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 (₽)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Yandex</c:v>
                  </c:pt>
                  <c:pt idx="1">
                    <c:v>VK</c:v>
                  </c:pt>
                  <c:pt idx="2">
                    <c:v>Admitad</c:v>
                  </c:pt>
                  <c:pt idx="3">
                    <c:v>Telegram</c:v>
                  </c:pt>
                  <c:pt idx="4">
                    <c:v>Resto (28 canales)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5098838</c:v>
                </c:pt>
                <c:pt idx="1">
                  <c:v>1021005</c:v>
                </c:pt>
                <c:pt idx="2">
                  <c:v>308560</c:v>
                </c:pt>
                <c:pt idx="3">
                  <c:v>151192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A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7 días antes del lanzamiento</c:v>
                </c:pt>
              </c:strCache>
            </c:strRef>
          </c:tx>
          <c:spPr>
            <a:solidFill>
              <a:srgbClr val="A9C4D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ДОД Профориентация</c:v>
                  </c:pt>
                  <c:pt idx="1">
                    <c:v>Prof. Frontend</c:v>
                  </c:pt>
                  <c:pt idx="2">
                    <c:v>Intensivo P&amp;J</c:v>
                  </c:pt>
                  <c:pt idx="3">
                    <c:v>ДОД QA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6546</c:v>
                </c:pt>
                <c:pt idx="1">
                  <c:v>6546</c:v>
                </c:pt>
                <c:pt idx="2">
                  <c:v>5749</c:v>
                </c:pt>
                <c:pt idx="3">
                  <c:v>6002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 días después del lanzamiento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ДОД Профориентация</c:v>
                  </c:pt>
                  <c:pt idx="1">
                    <c:v>Prof. Frontend</c:v>
                  </c:pt>
                  <c:pt idx="2">
                    <c:v>Intensivo P&amp;J</c:v>
                  </c:pt>
                  <c:pt idx="3">
                    <c:v>ДОД QA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6681</c:v>
                </c:pt>
                <c:pt idx="1">
                  <c:v>6681</c:v>
                </c:pt>
                <c:pt idx="2">
                  <c:v>6743</c:v>
                </c:pt>
                <c:pt idx="3">
                  <c:v>6054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A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66344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DE MARKETING · ESCUELA ONLINE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clic a la venta: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canales funcionan de verdad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Atribución Last Paid Click · Junio 2023 · 38,567 visitas analizadas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989320"/>
            <a:ext cx="8778240" cy="502920"/>
          </a:xfrm>
          <a:prstGeom prst="rect">
            <a:avLst>
              <a:gd name="adj" fmla="val 14545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5989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 interactivo completo: docs.google.com/spreadsheets/d/1NpUh-5kKRRxDPPHZV9dM1tR31cClVOhS4ASTGTk0fpg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Invertimos en publicidad paga en varios canales a la vez, pero no teníamos forma clara de responder: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60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canales realmente generan ventas, y cuáles solo generan clics?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1546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tiempo hay que esperar antes de juzgar una campaña?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0233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publicidad paga también empuja el tráfico orgánico, o son mundos separados?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229600" y="1188720"/>
            <a:ext cx="3291840" cy="4572000"/>
          </a:xfrm>
          <a:prstGeom prst="rect">
            <a:avLst>
              <a:gd name="adj" fmla="val 3333"/>
            </a:avLst>
          </a:prstGeom>
          <a:solidFill>
            <a:srgbClr val="EAF3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0392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ANALIZADO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828800"/>
            <a:ext cx="3291840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622499"/>
            <a:ext cx="32918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datos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(junio 2023)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03920" y="3246120"/>
            <a:ext cx="2743200" cy="0"/>
          </a:xfrm>
          <a:prstGeom prst="line">
            <a:avLst/>
          </a:prstGeom>
          <a:noFill/>
          <a:ln w="12700">
            <a:solidFill>
              <a:srgbClr val="C7D9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3429000"/>
            <a:ext cx="32918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166006"/>
            <a:ext cx="32918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de tráfico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rastreados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03920" y="4709160"/>
            <a:ext cx="2743200" cy="0"/>
          </a:xfrm>
          <a:prstGeom prst="line">
            <a:avLst/>
          </a:prstGeom>
          <a:noFill/>
          <a:ln w="12700">
            <a:solidFill>
              <a:srgbClr val="C7D9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0" y="48463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4.2M ₽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54132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invertidos 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medimos?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atribución: Last Paid Click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03170" cy="3291840"/>
          </a:xfrm>
          <a:prstGeom prst="roundRect">
            <a:avLst>
              <a:gd name="adj" fmla="val 3653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1625" y="24231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71625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49040"/>
            <a:ext cx="204597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entra al sitio a través de un canal (orgánico o pago)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097530" y="33832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63290" y="2103120"/>
            <a:ext cx="2503170" cy="3291840"/>
          </a:xfrm>
          <a:prstGeom prst="roundRect">
            <a:avLst>
              <a:gd name="adj" fmla="val 3653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94835" y="24231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94835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646170" y="324612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Último clic pago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91890" y="3749040"/>
            <a:ext cx="204597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hubo más de un clic pago antes de convertir, se le da todo el crédito al último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920740" y="33832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86500" y="2103120"/>
            <a:ext cx="2503170" cy="3291840"/>
          </a:xfrm>
          <a:prstGeom prst="roundRect">
            <a:avLst>
              <a:gd name="adj" fmla="val 3653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18045" y="24231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18045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469380" y="324612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515100" y="3749040"/>
            <a:ext cx="204597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deja sus datos: se convierte en oportunidad comercial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743950" y="33832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09710" y="2103120"/>
            <a:ext cx="2503170" cy="3291840"/>
          </a:xfrm>
          <a:prstGeom prst="roundRect">
            <a:avLst>
              <a:gd name="adj" fmla="val 3653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41255" y="24231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41255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292590" y="324612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338310" y="3749040"/>
            <a:ext cx="204597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lead se cierra con éxito y genera ingresos reales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considera pago el tráfico con medio: cpc, cpm, cpa, youtube, cpp, tg, social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embudo completo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visita a la venta, en todo el período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2140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38,567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0" y="201168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21214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747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 (1.94%)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98080" y="201168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0" y="21214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788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 (11.65%)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74904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EAF3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26060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 ₽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111496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 (CPU)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0" y="374904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EAF3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57600" y="3977640"/>
            <a:ext cx="26060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5,651 ₽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5111496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(CPL)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374904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EAF3F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3977640"/>
            <a:ext cx="26060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48,523 ₽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111496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(CPPU)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26880" y="374904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E9F6E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26880" y="3977640"/>
            <a:ext cx="26060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+55.9%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5111496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de la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(ROI)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canales generan ingresos reales?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generados por canal (modelo Last Paid Click), en rublos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45920"/>
            <a:ext cx="3749040" cy="4663440"/>
          </a:xfrm>
          <a:prstGeom prst="rect">
            <a:avLst>
              <a:gd name="adj" fmla="val 2927"/>
            </a:avLst>
          </a:prstGeom>
          <a:solidFill>
            <a:srgbClr val="21295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92440" y="1920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spc="50" kern="0" dirty="0">
                <a:solidFill>
                  <a:srgbClr val="9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92% DE LOS INGRESOS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b="1" spc="50" kern="0" dirty="0">
                <a:solidFill>
                  <a:srgbClr val="9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 DE SOLO 2 CANALES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651760"/>
            <a:ext cx="3749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3502152"/>
            <a:ext cx="3749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3794760"/>
            <a:ext cx="37490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FC6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4531766"/>
            <a:ext cx="37490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50749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Admitad y Telegram generan ventas (~460 mil ₽ juntos) sin tener gasto registrado — ver siguiente slide.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hacer con cada canal, mañana mismo?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66160" cy="4937760"/>
          </a:xfrm>
          <a:prstGeom prst="roundRect">
            <a:avLst>
              <a:gd name="adj" fmla="val 2564"/>
            </a:avLst>
          </a:prstGeom>
          <a:solidFill>
            <a:srgbClr val="E9F6E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4592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1E8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Funcionan bien, no los toques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346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 — ROI 46.5%, motor principal de ventas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343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 — ROI 37.6%, segundo mejor canal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371600"/>
            <a:ext cx="3566160" cy="4937760"/>
          </a:xfrm>
          <a:prstGeom prst="roundRect">
            <a:avLst>
              <a:gd name="adj" fmla="val 2564"/>
            </a:avLst>
          </a:prstGeom>
          <a:solidFill>
            <a:srgbClr val="FBF0E1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164592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C97A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EJECUCIÓN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Generan ventas pero falta control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8346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Admitad y Telegram generan ~460 mil ₽ en ventas sin gasto registrado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4343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Prioridad: instrumentar bien su tracking de costos antes de escalarlos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1371600"/>
            <a:ext cx="3566160" cy="4937760"/>
          </a:xfrm>
          <a:prstGeom prst="roundRect">
            <a:avLst>
              <a:gd name="adj" fmla="val 2564"/>
            </a:avLst>
          </a:prstGeom>
          <a:solidFill>
            <a:srgbClr val="FBEAE8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3920" y="164592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0392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PAUSAR O REVISAR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Traen clics, no traen ventas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28346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canales (Facebook, Google, Instagram, Mytarget, Slack, Twitter, etc.) suman miles de visitas y 0 ventas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4343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Redirigir ese presupuesto a Yandex/VK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¿Cuándo evaluar una campaña nueva?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206240" cy="4206240"/>
          </a:xfrm>
          <a:prstGeom prst="roundRect">
            <a:avLst>
              <a:gd name="adj" fmla="val 3261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286000"/>
            <a:ext cx="4206240" cy="20409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9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26941"/>
            <a:ext cx="4206240" cy="1250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después del clic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cerrar el 90%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leads que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terminan comprando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2194560"/>
            <a:ext cx="6309360" cy="31089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accionable
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juzgues una campaña por sus primeros días. El equipo de marketing debería esperar al menos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semanas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antes de decidir si pausarla o escalarla — antes de eso, todavía puede seguir cerrando ventas de clics ya recibidos.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¿La publicidad también empuja el tráfico orgánico?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56235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orgánicas diarias promedio, 4 campañas lanzadas después del inicio del período de datos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818120" y="1371600"/>
            <a:ext cx="3749040" cy="4480560"/>
          </a:xfrm>
          <a:prstGeom prst="rect">
            <a:avLst>
              <a:gd name="adj" fmla="val 2927"/>
            </a:avLst>
          </a:prstGeom>
          <a:solidFill>
            <a:srgbClr val="EAF3F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818120" y="1600200"/>
            <a:ext cx="3749040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+5.3%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592324"/>
            <a:ext cx="37490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promedio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 orgánico tras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una campaña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092440" y="3337560"/>
            <a:ext cx="3200400" cy="0"/>
          </a:xfrm>
          <a:prstGeom prst="line">
            <a:avLst/>
          </a:prstGeom>
          <a:noFill/>
          <a:ln w="12700">
            <a:solidFill>
              <a:srgbClr val="C7D9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18120" y="3474720"/>
            <a:ext cx="3749040" cy="8787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0.29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4353458"/>
            <a:ext cx="374904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entre gasto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 e visitas orgánicas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(todo el período)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5029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positiva pero moderada, basada en pocas campañas — vale la pena seguir monitoreando, no es concluyente aún.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próximos pasos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Reasignar presupuesto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688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el gasto de los 28 canales sin ventas hacia Yandex y VK, que ya prueban ROI positivo.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55448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Instrumentar Admitad y Telegram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4688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el tracking de costos para saber si de verdad son rentables o solo parecen gratuitos.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Esperar 25 días para evaluar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8920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el proceso interno: ninguna campaña se pausa antes de ese plazo.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397764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4251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Monitorear el efecto halo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8920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midiendo la correlación gasto–orgánico con más campañas para confirmar la señal.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6172200"/>
            <a:ext cx="10881360" cy="457200"/>
          </a:xfrm>
          <a:prstGeom prst="rect">
            <a:avLst>
              <a:gd name="adj" fmla="val 16000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 completo: docs.google.com/spreadsheets/d/1NpUh-5kKRRxDPPHZV9dM1tR31cClVOhS4ASTGTk0fpg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2026-09-09T21:48:40Z</dcterms:created>
  <dcterms:modified xsi:type="dcterms:W3CDTF">2026-09-09T21:48:40Z</dcterms:modified>
</cp:coreProperties>
</file>